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42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85800" y="77724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16324F"/>
                </a:solidFill>
              </a:rPr>
              <a:t>Healthcare Appointment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16324F"/>
                </a:solidFill>
              </a:rPr>
              <a:t>&amp; Care Analytics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13232" y="217627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</a:rPr>
              <a:t>Final Capstone 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257860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0"/>
                </a:solidFill>
              </a:rPr>
              <a:t>ASP.NET Core MVC + Web API + SQL Server + JWT + EF Core + ADO.NET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3949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82296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0120" y="33009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Business Objective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5074920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Improve care delivery by making patient profiles, appointment booking, secure API access, audit logging, and reporting available in one layered healthcare platform.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82296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60120" y="46725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Core Entities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4956048"/>
            <a:ext cx="5074920" cy="429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Patient · Appointment · Doctor · Department · AppUser · AppRole · AuditLog · MedicalRecord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7726680" y="150876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EAF4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818120" y="159105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80ED"/>
                </a:solidFill>
              </a:rPr>
              <a:t>Patient Portal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26680" y="224028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818120" y="232257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</a:rPr>
              <a:t>Admin Dashboard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297180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FFF2E8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818120" y="305409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45309"/>
                </a:solidFill>
              </a:rPr>
              <a:t>JWT-secured API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26680" y="370332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F0F0FF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818120" y="37856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5FC7"/>
                </a:solidFill>
              </a:rPr>
              <a:t>SQL Analytics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35240" y="47548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470"/>
                </a:solidFill>
              </a:rPr>
              <a:t>Presented by: Rithin Vishwas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470"/>
                </a:solidFill>
              </a:rPr>
              <a:t>Domain: Healthcare Analytics Platform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 &amp; Business Objective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system is required for a healthcare appointment environment.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B91C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8229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7465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Business Problem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3246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Manual appointment handling leads to missed follow-ups, slot conflicts, and poor visibility across patients, doctors, and care delivery operations.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43400" y="1600200"/>
            <a:ext cx="82296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0" y="174650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Project Objective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2029968"/>
            <a:ext cx="324612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Build a secure, database-driven system where Admins can manage records and Patients can register, create profiles, and book appointments.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1838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83880" y="1600200"/>
            <a:ext cx="82296" cy="1417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412480" y="1746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Expected Outcome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412480" y="2029968"/>
            <a:ext cx="3200400" cy="886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A working MVC portal, JWT-secured Web API, normalized SQL database, reporting views, audit logs, and deployment-ready DevOps assets.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777240" y="34290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FFF2E8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41832" y="358444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Challenges Solved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" y="3959352"/>
            <a:ext cx="4846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Duplicate doctor time slots are blocked
• Patient and appointment data stored centrally
• Admin and Patient users have separate secure flows
• API clients can test endpoints through Swagger
• Reports provide appointment and workload visibility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217920" y="3429000"/>
            <a:ext cx="5212080" cy="2103120"/>
          </a:xfrm>
          <a:prstGeom prst="roundRect">
            <a:avLst>
              <a:gd name="adj" fmla="val 3478"/>
            </a:avLst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382512" y="3584448"/>
            <a:ext cx="4882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Project Success Criteria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3959352"/>
            <a:ext cx="484632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MVC UI works end-to-end with SQL Server
• JWT login and protected APIs return expected responses
• SQL tables, views, triggers, stored procedures are available
• Role-based authorization protects admin and user flows
• SME demo can trace UI → Controller → Service → DB</a:t>
            </a:r>
            <a:endParaRPr lang="en-US" sz="1070" dirty="0"/>
          </a:p>
        </p:txBody>
      </p:sp>
      <p:sp>
        <p:nvSpPr>
          <p:cNvPr id="25" name="Text 23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Scope &amp; Capstone Deliverables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project maps to the expected final submission rubric.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57276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AF4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572768"/>
            <a:ext cx="82296" cy="9875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Source Code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Layered C# solution with MVC, Web API, Core, Infrastructure, and Tests projects.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172200" y="157276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7F7F3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72200" y="1572768"/>
            <a:ext cx="82296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0" y="171907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Frontend UI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Razor Views, ViewModels, validation, layout, dashboard, patient portal, and AJAX-ready flow.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EF8EA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2898648"/>
            <a:ext cx="82296" cy="9875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3044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Database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332841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DDL, DML, views, triggers, stored procedures, EF Core DbContext and SQL scripts.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172200" y="289864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FF2E8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0" y="2898648"/>
            <a:ext cx="82296" cy="9875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3044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Security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332841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JWT, cookie authentication, role authorization, anti-forgery, validation, security headers.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40080" y="422452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F0F0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0080" y="4224528"/>
            <a:ext cx="82296" cy="98755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4370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DevOps &amp; AI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8680" y="465429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Dockerfiles, compose, GitHub Actions YAML, Copilot prompt log, and AI/MCP concept.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172200" y="4224528"/>
            <a:ext cx="5166360" cy="987552"/>
          </a:xfrm>
          <a:prstGeom prst="roundRect">
            <a:avLst>
              <a:gd name="adj" fmla="val 7407"/>
            </a:avLst>
          </a:prstGeom>
          <a:solidFill>
            <a:srgbClr val="EAF4FF"/>
          </a:solidFill>
          <a:ln w="13970">
            <a:solidFill>
              <a:srgbClr val="1632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172200" y="4224528"/>
            <a:ext cx="82296" cy="9875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00800" y="437083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Documentation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0" y="4654296"/>
            <a:ext cx="48463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Architecture, DFD, ERD, database design, API documentation, business rules, final demo script.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Main Modules and User Roles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decomposition of the Healthcare Appointment &amp; Care Analytics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82296" cy="107899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746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Authentication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202996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Admin login, user registration, cookie auth, JWT login, password hashing, role checks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389120" y="1600200"/>
            <a:ext cx="82296" cy="10789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746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Patient Portal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17720" y="202996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Create patient profile, book appointment, view only own appointments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75320" y="1600200"/>
            <a:ext cx="82296" cy="10789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03920" y="17465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Admin Dashboard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503920" y="202996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View patients, doctors, appointments, reports, and management screens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2920" y="301752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02920" y="3017520"/>
            <a:ext cx="82296" cy="107899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3152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Appointment Engine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344728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Doctor schedule validation, duplicate slot prevention, status update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4389120" y="301752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389120" y="3017520"/>
            <a:ext cx="82296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1772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Analytics Reports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17720" y="344728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Dashboard counts, upcoming appointments, doctor workload, SQL reports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8275320" y="301752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1632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75320" y="3017520"/>
            <a:ext cx="82296" cy="107899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503920" y="3163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API Layer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503920" y="3447288"/>
            <a:ext cx="320040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Swagger-tested REST endpoints protected through Bearer tokens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914400" y="470916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EAF4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78992" y="486460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Role Split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15568" y="5239512"/>
            <a:ext cx="4526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Admin: dashboard, patient/appointment management, reports
• User/Patient: register, create profile, book appointment, view own appointments
• API Client: login, authorize with JWT, consume protected endpoints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6355080" y="470916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19672" y="4864608"/>
            <a:ext cx="4562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Module Boundaries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56248" y="5239512"/>
            <a:ext cx="4526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MVC handles human-friendly UI
• API handles mobile/Postman/Swagger access
• Core contains entities/DTOs/interfaces
• Infrastructure handles EF Core, repositories, services, SQL access</a:t>
            </a:r>
            <a:endParaRPr lang="en-US" sz="1070" dirty="0"/>
          </a:p>
        </p:txBody>
      </p:sp>
      <p:sp>
        <p:nvSpPr>
          <p:cNvPr id="37" name="Text 35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5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System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865314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view from client interfaces to SQL Server and DevOps assets.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231635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5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089" y="1319540"/>
            <a:ext cx="7305869" cy="4846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End-to-End Walkthrough: UI to Database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demo path proving MVC, services, EF Core, SQL Server, and audit flow.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627632"/>
            <a:ext cx="420624" cy="420624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Login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70432" y="1856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Admin/User enters credentials and role is verified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6217920" y="1627632"/>
            <a:ext cx="420624" cy="42062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17920" y="171907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48272" y="16002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Profile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48272" y="18562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User creates patient profile linked through AppUsers.PatientId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67919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70432" y="2560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Book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70432" y="2816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User selects doctor, date/time, duration, and reason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217920" y="2587752"/>
            <a:ext cx="420624" cy="420624"/>
          </a:xfrm>
          <a:prstGeom prst="ellipse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217920" y="267919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48272" y="2560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Validate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48272" y="28163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ViewModel + service checks required fields and duplicate slot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640080" y="3547872"/>
            <a:ext cx="420624" cy="42062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" y="3639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70432" y="3520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Persist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70432" y="37764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Repository + EF Core saves the appointment record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17920" y="3547872"/>
            <a:ext cx="420624" cy="42062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217920" y="3639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48272" y="352044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Audit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748272" y="37764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SQL trigger inserts appointment audit information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40080" y="4507992"/>
            <a:ext cx="420624" cy="420624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080" y="459943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70432" y="44805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</a:rPr>
              <a:t>Report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70432" y="4736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B6470"/>
                </a:solidFill>
              </a:rPr>
              <a:t>Dashboard/report page reads analytics through views/procs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6400800" y="4389120"/>
            <a:ext cx="5257800" cy="1664208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583680" y="4558284"/>
            <a:ext cx="4892040" cy="143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Output checks:</a:t>
            </a:r>
          </a:p>
          <a:p>
            <a:pPr marL="0" indent="0">
              <a:buNone/>
            </a:pPr>
            <a:endParaRPr lang="en-US" sz="1150" dirty="0">
              <a:solidFill>
                <a:srgbClr val="111827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150" dirty="0">
                <a:solidFill>
                  <a:srgbClr val="111827"/>
                </a:solidFill>
              </a:rPr>
              <a:t> 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MVC: Login → Dashboard → Patient Profile → Book Appointment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Server: Patients/Appointments/</a:t>
            </a:r>
            <a:r>
              <a:rPr lang="en-US" sz="11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AuditLogs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updated</a:t>
            </a:r>
            <a:endParaRPr lang="en-US" sz="11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Swagger: GET /</a:t>
            </a:r>
            <a:r>
              <a:rPr lang="en-US" sz="1100" dirty="0" err="1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/Appointments returns 200 OK</a:t>
            </a:r>
            <a:endParaRPr lang="en-US" sz="110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7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DFD: Context and Internal Data 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movement among actors, system processes, and SQL Server stores.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5"/>
          <p:cNvSpPr/>
          <p:nvPr/>
        </p:nvSpPr>
        <p:spPr>
          <a:xfrm>
            <a:off x="429768" y="4617720"/>
            <a:ext cx="5303520" cy="1719072"/>
          </a:xfrm>
          <a:prstGeom prst="roundRect">
            <a:avLst>
              <a:gd name="adj" fmla="val 4255"/>
            </a:avLst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594360" y="477316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What the DFD proves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0936" y="5148072"/>
            <a:ext cx="493776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Actors: Admin, Patient/User, API client
• Processes: Authentication, patient profile, appointment booking, reporting, audit logging
• Data stores: AppUsers, Patients, Doctors, Appointments, AuditLogs
• Outputs: dashboard counts, reports, JSON API responses, appointment confirmation</a:t>
            </a:r>
            <a:endParaRPr lang="en-US" sz="1070" dirty="0"/>
          </a:p>
        </p:txBody>
      </p:sp>
      <p:sp>
        <p:nvSpPr>
          <p:cNvPr id="12" name="Shape 8"/>
          <p:cNvSpPr/>
          <p:nvPr/>
        </p:nvSpPr>
        <p:spPr>
          <a:xfrm>
            <a:off x="6217920" y="4617720"/>
            <a:ext cx="5303520" cy="1216152"/>
          </a:xfrm>
          <a:prstGeom prst="roundRect">
            <a:avLst>
              <a:gd name="adj" fmla="val 6015"/>
            </a:avLst>
          </a:prstGeom>
          <a:solidFill>
            <a:srgbClr val="F0F0FF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382512" y="477316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5FC7"/>
                </a:solidFill>
              </a:rPr>
              <a:t>Presentation explanation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19088" y="5148072"/>
            <a:ext cx="4937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Level 0 shows the complete system boundary
• Level 1 breaks the system into internal processes
• Every data write travels through validation before SQL Server
• Audit data supports accountability and traceability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C136E7-F05A-A1A8-3F5A-41FE6E065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5" y="1412703"/>
            <a:ext cx="5404104" cy="299470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6ED2658-7F04-C1B7-A592-66AFDEC1F6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28"/>
          <a:stretch>
            <a:fillRect/>
          </a:stretch>
        </p:blipFill>
        <p:spPr>
          <a:xfrm>
            <a:off x="6080760" y="1444752"/>
            <a:ext cx="5303521" cy="29626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8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ER Diagram: Healthcare Data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relationships between users, patients, doctors, appointments, and audit records.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9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444752"/>
            <a:ext cx="706374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92440" y="1572768"/>
            <a:ext cx="3657600" cy="2115623"/>
          </a:xfrm>
          <a:prstGeom prst="roundRect">
            <a:avLst>
              <a:gd name="adj" fmla="val 2909"/>
            </a:avLst>
          </a:prstGeom>
          <a:solidFill>
            <a:srgbClr val="FFF2E8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57032" y="1728216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45309"/>
                </a:solidFill>
              </a:rPr>
              <a:t>Main relationships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340090" y="1813871"/>
            <a:ext cx="32918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Department → many Doctors
• Doctor → many Appointments
• Patient → many Appointments
• Patient → many MedicalRecords
• Appointment → many AuditLogs
• AppRole → many AppUsers
• AppUser may link one Patient profile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8092440" y="4087367"/>
            <a:ext cx="3657600" cy="1938527"/>
          </a:xfrm>
          <a:prstGeom prst="roundRect">
            <a:avLst>
              <a:gd name="adj" fmla="val 4211"/>
            </a:avLst>
          </a:prstGeom>
          <a:solidFill>
            <a:srgbClr val="EEF8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257032" y="44531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Why this design works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93608" y="4828032"/>
            <a:ext cx="32918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Avoids duplicate patient/doctor data
• Preserves appointment history
• Supports user portal with PatientId link
• Keeps audit log separate from appointment data
• Supports reporting and future medical record expansion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9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Database Design &amp; SQL Artifacts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 SQL Server design supports normalization, reporting, triggers, and auditing.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10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527049"/>
            <a:ext cx="10821923" cy="220603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" y="3886200"/>
            <a:ext cx="4160520" cy="2331720"/>
          </a:xfrm>
          <a:prstGeom prst="roundRect">
            <a:avLst>
              <a:gd name="adj" fmla="val 3137"/>
            </a:avLst>
          </a:prstGeom>
          <a:solidFill>
            <a:srgbClr val="EAF4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7532" y="404164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Database highlights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4108" y="4416552"/>
            <a:ext cx="379476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Database: HealthcareCareAnalyticsDB
• Core tables: Patients, Doctors, Appointments, MedicalRecords
• Security tables: AppUsers, AppRoles, PasswordHash
• Constraints: PK, FK, Unique, nullable FK, status enum/int
• Triggers write audit information for appointments
• Views/stored procedures support dashboard reports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6801830" y="388620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966422" y="4041648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Execution order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02998" y="4416552"/>
            <a:ext cx="379476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01_ddl_schema.sql
• 02_dml_seed_data.sql
• 03_views.sql
• 04_triggers.sql
• 05_stored_procedures.sql
• 06_queries.sql
• 07_user_portal_update.sql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10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File Structure: Layered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separation keeps responsibilities easy to understand, test, and maintain.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7_pi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1281"/>
            <a:ext cx="11338560" cy="24118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16574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8640" y="4165745"/>
            <a:ext cx="82296" cy="80467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77240" y="431204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Healthcare.API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459551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REST endpoints, JWT authentication, Swagger, controllers, DTO responses</a:t>
            </a:r>
            <a:endParaRPr lang="en-US" sz="1070" dirty="0"/>
          </a:p>
        </p:txBody>
      </p:sp>
      <p:sp>
        <p:nvSpPr>
          <p:cNvPr id="12" name="Shape 9"/>
          <p:cNvSpPr/>
          <p:nvPr/>
        </p:nvSpPr>
        <p:spPr>
          <a:xfrm>
            <a:off x="4389120" y="416574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389120" y="4165745"/>
            <a:ext cx="82296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4617720" y="431204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Healthcare.MVC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617720" y="459551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Razor UI, controllers, views, ViewModels, cookie login, user portal</a:t>
            </a:r>
            <a:endParaRPr lang="en-US" sz="1070" dirty="0"/>
          </a:p>
        </p:txBody>
      </p:sp>
      <p:sp>
        <p:nvSpPr>
          <p:cNvPr id="16" name="Shape 13"/>
          <p:cNvSpPr/>
          <p:nvPr/>
        </p:nvSpPr>
        <p:spPr>
          <a:xfrm>
            <a:off x="8229600" y="416574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8229600" y="4165745"/>
            <a:ext cx="82296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458200" y="431204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Healthcare.Core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458200" y="459551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Entities, DTOs, interfaces, enums, exceptions, business contracts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548640" y="526302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548640" y="5263025"/>
            <a:ext cx="82296" cy="80467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777240" y="540932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Healthcare.Infrastructure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777240" y="569279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EF Core DbContext, repositories, services, token/password services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4389120" y="526302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389120" y="5263025"/>
            <a:ext cx="82296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617720" y="540932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database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4617720" y="569279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DDL, DML, views, triggers, stored procedures, queries, portal update</a:t>
            </a:r>
            <a:endParaRPr lang="en-US" sz="1070" dirty="0"/>
          </a:p>
        </p:txBody>
      </p:sp>
      <p:sp>
        <p:nvSpPr>
          <p:cNvPr id="28" name="Shape 25"/>
          <p:cNvSpPr/>
          <p:nvPr/>
        </p:nvSpPr>
        <p:spPr>
          <a:xfrm>
            <a:off x="8229600" y="5263025"/>
            <a:ext cx="3474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632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8229600" y="5263025"/>
            <a:ext cx="82296" cy="80467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458200" y="5409329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devops/tests/docs (Conceptual)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458200" y="5692793"/>
            <a:ext cx="31546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Docker, GitHub Actions, xUnit tests, diagrams, report, walkthrough</a:t>
            </a:r>
            <a:endParaRPr lang="en-US" sz="1070" dirty="0"/>
          </a:p>
        </p:txBody>
      </p:sp>
      <p:sp>
        <p:nvSpPr>
          <p:cNvPr id="32" name="Text 29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11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Frontend–Backend Connectivity &amp; Report Generation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MVC/API requests pass through validation, services, repositories, and SQL reporting assets.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11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8677"/>
            <a:ext cx="5669280" cy="2290572"/>
          </a:xfrm>
          <a:prstGeom prst="rect">
            <a:avLst/>
          </a:prstGeom>
        </p:spPr>
      </p:pic>
      <p:pic>
        <p:nvPicPr>
          <p:cNvPr id="8" name="Image 1" descr="/mnt/data/ppt_images/slide11_pi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92980"/>
            <a:ext cx="5577840" cy="227027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" y="4008977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AF4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758952" y="4164425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MVC connectivity flow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795528" y="4539329"/>
            <a:ext cx="4937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Razor View submits form using tag helpers
• Controller receives ViewModel and checks ModelState
• Service applies business rules such as duplicate slot check
• Repository/Unit of Work persists through EF Core
• SQL Server stores and returns data to the view</a:t>
            </a:r>
            <a:endParaRPr lang="en-US" sz="1070" dirty="0"/>
          </a:p>
        </p:txBody>
      </p:sp>
      <p:sp>
        <p:nvSpPr>
          <p:cNvPr id="12" name="Shape 8"/>
          <p:cNvSpPr/>
          <p:nvPr/>
        </p:nvSpPr>
        <p:spPr>
          <a:xfrm>
            <a:off x="6263640" y="4008977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EF8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6428232" y="4164425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32"/>
                </a:solidFill>
              </a:rPr>
              <a:t>Report generation flow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64808" y="4539329"/>
            <a:ext cx="49377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Dashboard/ReportsController requests analytics
• ReportService or ADO.NET executes stored procedure/view
• SQL Server calculates counts and workload data
• Result is projected into report ViewModel
• Dashboard cards/tables display the output</a:t>
            </a:r>
            <a:endParaRPr lang="en-US" sz="1070" dirty="0"/>
          </a:p>
        </p:txBody>
      </p:sp>
      <p:sp>
        <p:nvSpPr>
          <p:cNvPr id="15" name="Text 11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12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API Documentation &amp; JWT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Swagger exposes REST endpoints and verifies protected access using Bearer tokens.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12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371600"/>
            <a:ext cx="11521440" cy="329409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00FDF491-4769-7A40-0DC5-28BBF589BBA5}"/>
              </a:ext>
            </a:extLst>
          </p:cNvPr>
          <p:cNvSpPr/>
          <p:nvPr/>
        </p:nvSpPr>
        <p:spPr>
          <a:xfrm>
            <a:off x="923544" y="4882153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D4E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Swagger groups</a:t>
            </a:r>
            <a:endParaRPr lang="en-US" sz="1300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6A6F6068-16E5-1BE9-8171-19C39EF528CD}"/>
              </a:ext>
            </a:extLst>
          </p:cNvPr>
          <p:cNvSpPr/>
          <p:nvPr/>
        </p:nvSpPr>
        <p:spPr>
          <a:xfrm>
            <a:off x="923544" y="5166360"/>
            <a:ext cx="27249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7A034648-60B7-282D-F1FE-FF78852A60E8}"/>
              </a:ext>
            </a:extLst>
          </p:cNvPr>
          <p:cNvSpPr/>
          <p:nvPr/>
        </p:nvSpPr>
        <p:spPr>
          <a:xfrm>
            <a:off x="4160520" y="4791266"/>
            <a:ext cx="3474720" cy="1417320"/>
          </a:xfrm>
          <a:prstGeom prst="roundRect">
            <a:avLst>
              <a:gd name="adj" fmla="val 2581"/>
            </a:avLst>
          </a:prstGeom>
          <a:solidFill>
            <a:srgbClr val="DFF7F2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8C3209EE-85CF-5FC7-6DAE-2B97F09CD112}"/>
              </a:ext>
            </a:extLst>
          </p:cNvPr>
          <p:cNvSpPr/>
          <p:nvPr/>
        </p:nvSpPr>
        <p:spPr>
          <a:xfrm>
            <a:off x="4306824" y="4882153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JWT test steps</a:t>
            </a:r>
            <a:endParaRPr lang="en-US" sz="13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117DA2A3-1A2F-0FEB-0BB2-8E97549BC1CC}"/>
              </a:ext>
            </a:extLst>
          </p:cNvPr>
          <p:cNvSpPr/>
          <p:nvPr/>
        </p:nvSpPr>
        <p:spPr>
          <a:xfrm>
            <a:off x="4306824" y="5168786"/>
            <a:ext cx="31821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POST /api/Auth/login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Copy token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Authorize: Bearer &lt;token&gt;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Test protected endpoints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Confirm 401 without token</a:t>
            </a:r>
            <a:endParaRPr lang="en-US" sz="11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AC1AAA35-A0FF-85E0-63D5-3549982C05F3}"/>
              </a:ext>
            </a:extLst>
          </p:cNvPr>
          <p:cNvSpPr/>
          <p:nvPr/>
        </p:nvSpPr>
        <p:spPr>
          <a:xfrm>
            <a:off x="8001000" y="4781947"/>
            <a:ext cx="3383280" cy="1417320"/>
          </a:xfrm>
          <a:prstGeom prst="roundRect">
            <a:avLst>
              <a:gd name="adj" fmla="val 2581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942F047A-4517-B1DF-A72F-F421A3D93D4F}"/>
              </a:ext>
            </a:extLst>
          </p:cNvPr>
          <p:cNvSpPr/>
          <p:nvPr/>
        </p:nvSpPr>
        <p:spPr>
          <a:xfrm>
            <a:off x="8147304" y="4931042"/>
            <a:ext cx="309067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/api/Doctors → 200 OK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GET /api/Appointments → 200 OK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{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"patientId": 1,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"doctorId": 1,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"reason": "General Checkup"</a:t>
            </a:r>
            <a:endParaRPr lang="en-US" sz="940" dirty="0"/>
          </a:p>
          <a:p>
            <a:pPr marL="0" indent="0">
              <a:buNone/>
            </a:pPr>
            <a:r>
              <a:rPr lang="en-US" sz="940" dirty="0">
                <a:solidFill>
                  <a:srgbClr val="111827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}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13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MVC Screenshots and Output 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Screenshots to capture while demonstrating the working application flow.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EAF4FF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7556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0ED"/>
                </a:solidFill>
              </a:rPr>
              <a:t>Admin screenshots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5528" y="2130552"/>
            <a:ext cx="49377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MVC running in terminal
• Login page with admin credentials
• Admin dashboard with cards and reports
• Patient list and create patient form
• Appointment booking form and appointment list
• SQL Server verification: Patients, Appointments, AuditLogs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6263640" y="1600200"/>
            <a:ext cx="5303520" cy="4069080"/>
          </a:xfrm>
          <a:prstGeom prst="roundRect">
            <a:avLst>
              <a:gd name="adj" fmla="val 1798"/>
            </a:avLst>
          </a:prstGeom>
          <a:solidFill>
            <a:srgbClr val="E7F7F3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28232" y="1755648"/>
            <a:ext cx="4974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</a:rPr>
              <a:t>User portal screenshots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64808" y="2130552"/>
            <a:ext cx="493776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• Registration page and validation messages
• User login and patient portal dashboard
• Create patient profile form
• Book appointment as user
• My Appointments page shows only user-specific records
• SQL Server link: AppUsers.PatientId → Patients.Id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14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Security Controls Implemented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are applied at UI, API, service, and database boundaries.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B91C1C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82296" cy="8046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16550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SQL Injection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EF Core LINQ and parameterized ADO.NET access avoid string-concatenated SQL.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82296" cy="8046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6550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CSRF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1938528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MVC forms use anti-forgery token validation on POST requests.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48640" y="2578608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82296" cy="804672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27249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XSS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008376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Razor automatically HTML-encodes output; user input is not rendered with raw HTML.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309360" y="2578608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2578608"/>
            <a:ext cx="82296" cy="8046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272491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Authentication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3008376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Cookie authentication protects MVC; JWT Bearer authentication protects API.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48640" y="3648456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82296" cy="80467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77240" y="3794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Authorization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7724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Admin/User/ClinicalStaff policies restrict controllers and endpoints.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309360" y="3648456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09360" y="3648456"/>
            <a:ext cx="82296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37947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Password Safety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37960" y="4078224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Passwords are stored as PBKDF2 salted hashes, not plaintext.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548640" y="4718304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632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48640" y="4718304"/>
            <a:ext cx="82296" cy="80467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77240" y="48646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Input Validation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77240" y="5148072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DataAnnotations, DTOs, ViewModels, and ModelState reject invalid data.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6309360" y="4718304"/>
            <a:ext cx="52578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5B6470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309360" y="4718304"/>
            <a:ext cx="82296" cy="804672"/>
          </a:xfrm>
          <a:prstGeom prst="rect">
            <a:avLst/>
          </a:prstGeom>
          <a:solidFill>
            <a:srgbClr val="5B6470"/>
          </a:solidFill>
          <a:ln w="12700">
            <a:solidFill>
              <a:srgbClr val="5B64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37960" y="486460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Security Headers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537960" y="5148072"/>
            <a:ext cx="49377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Middleware adds anti-clickjacking, content-type, referrer, and CSP-style protections.</a:t>
            </a:r>
            <a:endParaRPr lang="en-US" sz="1070" dirty="0"/>
          </a:p>
        </p:txBody>
      </p:sp>
      <p:sp>
        <p:nvSpPr>
          <p:cNvPr id="39" name="Text 37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15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SOLID Principles Followed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responsibilities are separated and depend on abstractions to improve maintainability.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82296" cy="86868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7465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S — Single Responsibility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029968"/>
            <a:ext cx="4937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Controllers handle HTTP; services handle business rules; repositories handle persistence.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82296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46520" y="17465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O — Open/Closed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029968"/>
            <a:ext cx="4937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New repositories/services can be added without rewriting controllers.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4008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82296" cy="8686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68680" y="28895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L — Liskov Substitution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3172968"/>
            <a:ext cx="4937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Repository interfaces allow fake/test implementations to replace real infrastructure.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217920" y="2743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2743200"/>
            <a:ext cx="82296" cy="868680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46520" y="28895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I — Interface Segregation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46520" y="3172968"/>
            <a:ext cx="4937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Separate interfaces exist for services, repositories, token generation, and Unit of Work.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5257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82296" cy="868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68680" y="403250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 — Dependency Inversion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68680" y="4315968"/>
            <a:ext cx="4937760" cy="338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MVC/API depend on interfaces and DI, not direct concrete infrastructure creation.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F173C48D-47AE-57AE-566B-86990B31EB2E}"/>
              </a:ext>
            </a:extLst>
          </p:cNvPr>
          <p:cNvSpPr/>
          <p:nvPr/>
        </p:nvSpPr>
        <p:spPr>
          <a:xfrm>
            <a:off x="914400" y="587044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7" name="Text 29">
            <a:extLst>
              <a:ext uri="{FF2B5EF4-FFF2-40B4-BE49-F238E27FC236}">
                <a16:creationId xmlns:a16="http://schemas.microsoft.com/office/drawing/2014/main" id="{60058BEE-9E96-C239-4E5F-75C34369B0F4}"/>
              </a:ext>
            </a:extLst>
          </p:cNvPr>
          <p:cNvSpPr/>
          <p:nvPr/>
        </p:nvSpPr>
        <p:spPr>
          <a:xfrm>
            <a:off x="928116" y="5911595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6324F"/>
                </a:solidFill>
              </a:rPr>
              <a:t>Why this matters:  The layered design makes the solution testable, extendable, and easier to maintain because each class has a focused responsibility and dependencies are injected.</a:t>
            </a:r>
          </a:p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16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Design Patterns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 used to keep the solution clean, testable, and scalable.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F80ED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82296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7465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MVC Pattern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02996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Separates Models/ViewModels, Razor Views, and Controllers for UI workflows.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82296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17465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Repository Pattern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37960" y="202996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Encapsulates data access and hides EF Core details from controllers.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9436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45309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94360" y="2834640"/>
            <a:ext cx="82296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29809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Unit of Work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326440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Coordinates repository changes and saves them consistently.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5B5FC7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09360" y="2834640"/>
            <a:ext cx="82296" cy="914400"/>
          </a:xfrm>
          <a:prstGeom prst="rect">
            <a:avLst/>
          </a:prstGeom>
          <a:solidFill>
            <a:srgbClr val="5B5FC7"/>
          </a:solidFill>
          <a:ln w="12700">
            <a:solidFill>
              <a:srgbClr val="5B5F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537960" y="298094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DTO Pattern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326440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Returns clean API request/response objects instead of exposing full entities.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94360" y="4069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E7D32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94360" y="4069080"/>
            <a:ext cx="82296" cy="9144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42153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Dependency Injection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449884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Registers services and repositories in Program.cs and injects them where required.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309360" y="4069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16324F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09360" y="4069080"/>
            <a:ext cx="82296" cy="9144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537960" y="42153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Middleware Pattern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537960" y="4498848"/>
            <a:ext cx="5029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Authentication, authorization, exception handling, and security headers run in the request pipeline.</a:t>
            </a:r>
            <a:endParaRPr lang="en-US" sz="1070" dirty="0"/>
          </a:p>
        </p:txBody>
      </p:sp>
      <p:sp>
        <p:nvSpPr>
          <p:cNvPr id="31" name="Text 29"/>
          <p:cNvSpPr/>
          <p:nvPr/>
        </p:nvSpPr>
        <p:spPr>
          <a:xfrm>
            <a:off x="914400" y="5870448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324F"/>
                </a:solidFill>
              </a:rPr>
              <a:t>Why this matters: design patterns reduce tight coupling, improve testing, and make the project ready for future modules.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17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Traditional vs Latest Industry Practices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implementation avoids outdated patterns and follows safer development practices.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1F2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0" y="1554480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EEF8E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91C1C"/>
                </a:solidFill>
              </a:rPr>
              <a:t>Traditional risks avoided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</a:rPr>
              <a:t>Latest / used in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331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Raw SQL inside UI/controller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2770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Plain text password storage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2095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Client-only validation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60120" y="3648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No role separation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0120" y="40873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No API documentation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0120" y="4526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Manual deployment only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46520" y="233172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Repository + EF Core + parameterized SQL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277063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PBKDF2 salted password hashing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209544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Server-side validation with DTO/ViewModel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364845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Role policies for Admin/User/ClinicalStaff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087368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Swagger/OpenAPI with JWT testing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46520" y="45262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• Docker + GitHub Actions concept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" y="598932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324F"/>
                </a:solidFill>
              </a:rPr>
              <a:t>Best practice : never trust client input; validate server-side, authorize by role, log important actions, and use layered abstractions.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Appointment &amp; Care Analytics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0744200" y="164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18 / 18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11521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Top 10 Modules &amp; Q&amp;A Readiness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9184" y="1033272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technical summary and SME panel preparation checklist.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" y="1325880"/>
            <a:ext cx="1154887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/mnt/data/ppt_images/slide16_pi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415" y="1386292"/>
            <a:ext cx="5045248" cy="49687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9183" y="1448764"/>
            <a:ext cx="5045249" cy="3862819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39496" y="1668220"/>
            <a:ext cx="4570402" cy="24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Top 10 Modules to explain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39496" y="2033979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1. MVC routing, Razor Views, and ViewModels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9496" y="2363163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2. Admin login, user registration, and role redirection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39496" y="2692347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3. JWT token generation and Swagger Bearer testing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9496" y="3021531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4. Patient profile creation with user-to-patient linking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9496" y="3350715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5. Appointment booking with duplicate slot validation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9496" y="3679899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6. EF Core DbContext and repository abstraction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9496" y="4009083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7. SQL DDL, triggers, audit logs, views, stored procedures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39496" y="4338267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8. Report service and analytics for appointment tracking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39496" y="4667451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9. SOLID principles, DTOs, and clean layered architecture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9496" y="4996635"/>
            <a:ext cx="4451690" cy="1982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10. Docker, GitHub Actions, and Azure deployment model  (conceptual) 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63644" y="5447341"/>
            <a:ext cx="3886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0F766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3963644" y="5447341"/>
            <a:ext cx="82296" cy="9875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192244" y="5593645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</a:rPr>
              <a:t>Closing message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192244" y="5877109"/>
            <a:ext cx="356616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5B6470"/>
                </a:solidFill>
              </a:rPr>
              <a:t>This project demonstrates secure healthcare appointment management with MVC UI, JWT-secured API, SQL Server integration, audit logging, reporting, and cloud-ready architecture.</a:t>
            </a:r>
            <a:endParaRPr lang="en-US" sz="1070" dirty="0"/>
          </a:p>
        </p:txBody>
      </p:sp>
      <p:sp>
        <p:nvSpPr>
          <p:cNvPr id="27" name="Text 24"/>
          <p:cNvSpPr/>
          <p:nvPr/>
        </p:nvSpPr>
        <p:spPr>
          <a:xfrm>
            <a:off x="320040" y="6547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Capstone Final Presentation • ASP.NET Core MVC + Web API + SQL Server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458200" y="654710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6470"/>
                </a:solidFill>
              </a:rPr>
              <a:t>Secure · Layered · Database-driven · API-ready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2820</Words>
  <Application>Microsoft Office PowerPoint</Application>
  <PresentationFormat>Widescreen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Great Learning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Appointment &amp; Care Analytics — Detailed Final Presentation</dc:title>
  <dc:subject>Healthcare Appointment &amp; Care Analytics Final Capstone Presentation</dc:subject>
  <dc:creator>OpenAI</dc:creator>
  <cp:lastModifiedBy>Rini  Vishwas</cp:lastModifiedBy>
  <cp:revision>4</cp:revision>
  <dcterms:created xsi:type="dcterms:W3CDTF">2026-06-06T04:54:17Z</dcterms:created>
  <dcterms:modified xsi:type="dcterms:W3CDTF">2026-06-06T06:15:58Z</dcterms:modified>
</cp:coreProperties>
</file>